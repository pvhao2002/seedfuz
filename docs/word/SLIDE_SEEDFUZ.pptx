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f98c9a76-f2a5-7684-afce-8c239d3a88d1}">
          <p14:sldIdLst>
            <p14:sldId id="256"/>
            <p14:sldId id="257"/>
            <p14:sldId id="258"/>
          </p14:sldIdLst>
        </p14:section>
        <p14:section name="Chương 1 · Cơ sở lý thuyết" id="{de773e88-35f9-3211-a8eb-21fbbd808c4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hương 2 · Khảo sát và yêu cầu" id="{88117d5b-be98-d449-1de8-82e8cfa96598}">
          <p14:sldIdLst>
            <p14:sldId id="265"/>
            <p14:sldId id="266"/>
            <p14:sldId id="267"/>
          </p14:sldIdLst>
        </p14:section>
        <p14:section name="Chương 3 · Thiết kế hệ thống" id="{5bd1b651-1d84-42bb-0189-1f63fea47844}">
          <p14:sldIdLst>
            <p14:sldId id="268"/>
            <p14:sldId id="269"/>
            <p14:sldId id="270"/>
            <p14:sldId id="271"/>
          </p14:sldIdLst>
        </p14:section>
        <p14:section name="Chương 4 · Triển khai và kết quả" id="{f50870f0-026c-2e5e-4513-e9a01bd1b60c}">
          <p14:sldIdLst>
            <p14:sldId id="272"/>
            <p14:sldId id="273"/>
            <p14:sldId id="274"/>
            <p14:sldId id="275"/>
          </p14:sldIdLst>
        </p14:section>
        <p14:section name="Chương 5 · Kết luận" id="{ae986d13-1a7c-771c-54b7-5f53924c10c8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Trọng số theo dấu hiệu (detect_sensitive_fields)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</c:v>
                </c:pt>
              </c:strCache>
            </c:strRef>
          </c:tx>
          <c:spPr>
            <a:solidFill>
              <a:srgbClr val="1F9D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header (8 byte đầu)</c:v>
                  </c:pt>
                  <c:pt idx="1">
                    <c:v>delimiter = : ; , | &amp; ?</c:v>
                  </c:pt>
                  <c:pt idx="2">
                    <c:v>boundary-value</c:v>
                  </c:pt>
                  <c:pt idx="3">
                    <c:v>probable-length</c:v>
                  </c:pt>
                  <c:pt idx="4">
                    <c:v>probable-16bit-length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1.2</c:v>
                </c:pt>
                <c:pt idx="2">
                  <c:v>1.5</c:v>
                </c:pt>
                <c:pt idx="3">
                  <c:v>2.5</c:v>
                </c:pt>
                <c:pt idx="4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Số dòng lệnh theo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Dòng lệnh</c:v>
                </c:pt>
              </c:strCache>
            </c:strRef>
          </c:tx>
          <c:spPr>
            <a:solidFill>
              <a:srgbClr val="2F6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boofuzz_adapter.py</c:v>
                  </c:pt>
                  <c:pt idx="1">
                    <c:v>transport.py</c:v>
                  </c:pt>
                  <c:pt idx="2">
                    <c:v>config.py</c:v>
                  </c:pt>
                  <c:pt idx="3">
                    <c:v>models.py</c:v>
                  </c:pt>
                  <c:pt idx="4">
                    <c:v>mutation.py</c:v>
                  </c:pt>
                  <c:pt idx="5">
                    <c:v>state_machine.py</c:v>
                  </c:pt>
                  <c:pt idx="6">
                    <c:v>monitor.py</c:v>
                  </c:pt>
                  <c:pt idx="7">
                    <c:v>reporting.py</c:v>
                  </c:pt>
                  <c:pt idx="8">
                    <c:v>api.py</c:v>
                  </c:pt>
                  <c:pt idx="9">
                    <c:v>storage.py</c:v>
                  </c:pt>
                  <c:pt idx="10">
                    <c:v>campaign.py</c:v>
                  </c:pt>
                  <c:pt idx="11">
                    <c:v>pcap.py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</c:v>
                </c:pt>
                <c:pt idx="1">
                  <c:v>51</c:v>
                </c:pt>
                <c:pt idx="2">
                  <c:v>77</c:v>
                </c:pt>
                <c:pt idx="3">
                  <c:v>94</c:v>
                </c:pt>
                <c:pt idx="4">
                  <c:v>100</c:v>
                </c:pt>
                <c:pt idx="5">
                  <c:v>102</c:v>
                </c:pt>
                <c:pt idx="6">
                  <c:v>107</c:v>
                </c:pt>
                <c:pt idx="7">
                  <c:v>122</c:v>
                </c:pt>
                <c:pt idx="8">
                  <c:v>215</c:v>
                </c:pt>
                <c:pt idx="9">
                  <c:v>234</c:v>
                </c:pt>
                <c:pt idx="10">
                  <c:v>237</c:v>
                </c:pt>
                <c:pt idx="11">
                  <c:v>270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Độ phủ kiểm thử theo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Độ phủ</c:v>
                </c:pt>
              </c:strCache>
            </c:strRef>
          </c:tx>
          <c:spPr>
            <a:solidFill>
              <a:srgbClr val="1F9D6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pcap.py</c:v>
                  </c:pt>
                  <c:pt idx="1">
                    <c:v>campaign.py</c:v>
                  </c:pt>
                  <c:pt idx="2">
                    <c:v>state_machine.py</c:v>
                  </c:pt>
                  <c:pt idx="3">
                    <c:v>config.py</c:v>
                  </c:pt>
                  <c:pt idx="4">
                    <c:v>models.py</c:v>
                  </c:pt>
                  <c:pt idx="5">
                    <c:v>mutation.py</c:v>
                  </c:pt>
                  <c:pt idx="6">
                    <c:v>storage.py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0.77</c:v>
                </c:pt>
                <c:pt idx="1">
                  <c:v>0.83</c:v>
                </c:pt>
                <c:pt idx="2">
                  <c:v>0.84</c:v>
                </c:pt>
                <c:pt idx="3">
                  <c:v>0.88</c:v>
                </c:pt>
                <c:pt idx="4">
                  <c:v>0.94</c:v>
                </c:pt>
                <c:pt idx="5">
                  <c:v>0.95</c:v>
                </c:pt>
                <c:pt idx="6">
                  <c:v>0.96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· ngẫu nhiên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seed 1337</c:v>
                  </c:pt>
                  <c:pt idx="1">
                    <c:v>seed 42</c:v>
                  </c:pt>
                  <c:pt idx="2">
                    <c:v>seed 2026</c:v>
                  </c:pt>
                  <c:pt idx="3">
                    <c:v>seed 7</c:v>
                  </c:pt>
                  <c:pt idx="4">
                    <c:v>seed 99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209</c:v>
                </c:pt>
                <c:pt idx="1">
                  <c:v>305</c:v>
                </c:pt>
                <c:pt idx="2">
                  <c:v>266</c:v>
                </c:pt>
                <c:pt idx="3">
                  <c:v>211</c:v>
                </c:pt>
                <c:pt idx="4">
                  <c:v>349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· thông minh</c:v>
                </c:pt>
              </c:strCache>
            </c:strRef>
          </c:tx>
          <c:spPr>
            <a:solidFill>
              <a:srgbClr val="1F9D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seed 1337</c:v>
                  </c:pt>
                  <c:pt idx="1">
                    <c:v>seed 42</c:v>
                  </c:pt>
                  <c:pt idx="2">
                    <c:v>seed 2026</c:v>
                  </c:pt>
                  <c:pt idx="3">
                    <c:v>seed 7</c:v>
                  </c:pt>
                  <c:pt idx="4">
                    <c:v>seed 99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</c:v>
                </c:pt>
                <c:pt idx="1">
                  <c:v>60</c:v>
                </c:pt>
                <c:pt idx="2">
                  <c:v>66</c:v>
                </c:pt>
                <c:pt idx="3">
                  <c:v>58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Thông lượng trung bình (test case/giây, dry-run)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· ngẫu nhiên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300 case</c:v>
                  </c:pt>
                  <c:pt idx="1">
                    <c:v>1.000 case</c:v>
                  </c:pt>
                  <c:pt idx="2">
                    <c:v>5.000 case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150.2</c:v>
                </c:pt>
                <c:pt idx="1">
                  <c:v>146.5</c:v>
                </c:pt>
                <c:pt idx="2">
                  <c:v>151.4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· thông minh</c:v>
                </c:pt>
              </c:strCache>
            </c:strRef>
          </c:tx>
          <c:spPr>
            <a:solidFill>
              <a:srgbClr val="1F9D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300 case</c:v>
                  </c:pt>
                  <c:pt idx="1">
                    <c:v>1.000 case</c:v>
                  </c:pt>
                  <c:pt idx="2">
                    <c:v>5.000 case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152.4</c:v>
                </c:pt>
                <c:pt idx="1">
                  <c:v>150.7</c:v>
                </c:pt>
                <c:pt idx="2">
                  <c:v>154.7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 SeedFuz: công cụ mutational fuzzing có nhận biết trạng thái và chọn hạt giống thông minh cho thiết bị IoT.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Bối cảnh: thiết bị IoT là bề mặt tấn công lớn; fuzzing truyền thống ngẫu nhiên nên chậm. Đề tài đặt mục tiêu dồn đột biến vào trường nhạy cảm.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mục tiêu cụ thể và ranh giới phạm vi: chỉ thử nghiệm trong lab cô lập, thiết bị được cấp phép.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 WiFi mở nhiều dịch vụ; mô hình đe dọa: kẻ tấn công cùng LAN/WiFi, black-box, chỉ quan sát phản ứng bên ngoài.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trục phân loại: cách sinh đầu vào, mức hiểu biết mục tiêu, mô hình trạng thái. SeedFuz: mutation-based, black-box, state-aware.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Tầng thấp (MAC, checksum, seq) bị ngăn xếp mạng chặn nếu sai, nên đột biến ở đó lãng phí. Parser hỗ trợ cả PCAP cổ điển và PCAPNG.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Fuzzing stateless gửi gói vào sai trạng thái nên bị bỏ qua. SeedFuz dựng đồ thị chuyển tiếp từ chính lưu lượng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Mutator xoay vòng theo index % 3. Khi bật smart_selection, một phần ba lượt dùng smart-field nhắm trường điểm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Fuzzing ngẫu nhiên rải đều đột biến; cơ chế thông minh dồn một phần ba phép thử vào vùng điểm cao mà không loại bỏ khám phá ngẫu nhiên.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trống: công cụ hiện có cần đặc tả hoặc instrumentation; SeedFuz nhắm thiết bị đóng, không cần đặc tả.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đầu vào (PCAP + cấu hình JSON) - xử lý - đầu ra (log crash, tốc độ, báo cáo).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yêu cầu chức năng RF-01 đến RF-10 và 7 yêu cầu phi chức năng; an toàn là ràng buộc hàng đầu.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tầng: trình bày, dịch vụ/API, lõi fuzzing, dữ liệu. Boofuzz adapter là tùy chọn.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module, mỗi module một trách nhiệm. Lớn nhất là parser PCAP (270 dòng) và điều phối chiến dịch (237 dòng).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ghi mỗi test case với hex payload để tái lập. API FastAPI phục vụ Dashboard và tích hợp.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toàn mặc định: dry-run, cờ authorized, chặn IP public. Giám sát black-box vì router thương mại không có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Giao diện chạy trên localhost; mặc định dry-run với cảnh báo Safety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synthetic: đọc TCP/PCAPNG/IPv6, bit flip, tái lập, giữ token, chuyển trạng thái, monitor, chặn mục tiêu public,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Thiết kế: cùng máy, cùng seed sample_http.pcap (2 payload, 20 trường), dry-run; 3 độ dài x 2 nhánh x 5 random seed = 30 lần chạy. Chỉ khác biến smart_selection.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Nhánh B đạt đủ 20/20 trường ở mọi lần chạy kể cả 300 case; nhánh A còn lần chỉ đạt 19. Giới hạn: bộ seed nhỏ, độ phủ trường là proxy cho khả năng tìm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biệt rạch ròi kết quả kiểm thử phần mềm với kết quả thực nghiệm phần cứng.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thầy hướng dẫn và hội đồng. Mời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SeedFuz · Khóa luận ATTT 2025–2026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SeedFuz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Tối ưu hóa Mutational Fuzzing với Cơ chế Chọn Hạt giống Thông minh trong Dò quét Lỗ hổng IoT</a:t>
            </a:r>
            <a:endParaRPr lang="en-US" sz="2200" dirty="0"/>
          </a:p>
        </p:txBody>
      </p:sp>
      <p:sp>
        <p:nvSpPr>
          <p:cNvPr id="4" name="logo-card"/>
          <p:cNvSpPr/>
          <p:nvPr/>
        </p:nvSpPr>
        <p:spPr>
          <a:xfrm>
            <a:off x="731520" y="640080"/>
            <a:ext cx="10058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" descr="C:\Users\Kira.Pham\AppData\Local\Temp\claude\D--kira-SeedFuz\418f2f3a-c057-4374-8a59-f8c5dbdf4547\scratchpad\img\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40664"/>
            <a:ext cx="786384" cy="7452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TRƯỜNG ĐẠI HỌC CÔNG THƯƠNG TP.HCM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Khoa Công nghệ Thông tin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Khóa luận cử nhân chuyên ngành An toàn Thông tin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GVHD: Thầy Đinh Huy Hoàng  ·  Năm học 2025 –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Vì sao cần fuzzing thông minh cho IoT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Router, camera IP, cảm biến chạy firmware C/C++ tối ưu chi phí — xử lý đầu vào ít được kiểm thử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Gói tin dị dạng gây tràn bộ đệm, cạn tài nguyên, treo dịch vụ hoặc khởi động lại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Fuzzing ngẫu nhiên tốn thời gian: phần lớn đột biến rơi vào byte ít ý nghĩa, hiếm khi chạm trường nhạy cảm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SeedFuz: lấy PCAP thật làm seed, suy luận trạng thái, ưu tiên đột biến trường độ dài / định danh / delimiter</a:t>
            </a:r>
            <a:endParaRPr lang="en-US" sz="1800" dirty="0"/>
          </a:p>
        </p:txBody>
      </p:sp>
      <p:sp>
        <p:nvSpPr>
          <p:cNvPr id="4" name="stat-card"/>
          <p:cNvSpPr/>
          <p:nvPr/>
        </p:nvSpPr>
        <p:spPr>
          <a:xfrm>
            <a:off x="7315200" y="1463040"/>
            <a:ext cx="4297680" cy="43891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Ví dụ kinh điển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ký tự được khai báo trong trường độ dài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749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ký tự gửi thực tế → tràn bộ đệm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Mục tiêu và phạm vi nghiên cứu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17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Hệ thống hóa bề mặt tấn công IoT, gói tin, PCAP/PCAPNG, đồ thị trạng thái</a:t>
            </a:r>
            <a:endParaRPr lang="en-US" sz="1600" dirty="0"/>
          </a:p>
        </p:txBody>
      </p:sp>
      <p:sp>
        <p:nvSpPr>
          <p:cNvPr id="6" name="badge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Cài đặt bit flipping, byte mutation và đột biến trường nhạy cảm</a:t>
            </a:r>
            <a:endParaRPr lang="en-US" sz="1600" dirty="0"/>
          </a:p>
        </p:txBody>
      </p:sp>
      <p:sp>
        <p:nvSpPr>
          <p:cNvPr id="9" name="badge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54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Kiến trúc module: parser, state machine, mutator, monitor, SQLite, CSV/PDF</a:t>
            </a:r>
            <a:endParaRPr lang="en-US" sz="1600" dirty="0"/>
          </a:p>
        </p:txBody>
      </p:sp>
      <p:sp>
        <p:nvSpPr>
          <p:cNvPr id="12" name="badge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233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Web Dashboard nạp PCAP, cấu hình và theo dõi chiến dịch thời gian thực</a:t>
            </a:r>
            <a:endParaRPr lang="en-US" sz="1600" dirty="0"/>
          </a:p>
        </p:txBody>
      </p:sp>
      <p:sp>
        <p:nvSpPr>
          <p:cNvPr id="15" name="badge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92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Thí nghiệm A/B: fuzzing ngẫu nhiên vs chọn hạt giống thông minh</a:t>
            </a:r>
            <a:endParaRPr lang="en-US" sz="1600" dirty="0"/>
          </a:p>
        </p:txBody>
      </p:sp>
      <p:sp>
        <p:nvSpPr>
          <p:cNvPr id="18" name="scope-in"/>
          <p:cNvSpPr/>
          <p:nvPr/>
        </p:nvSpPr>
        <p:spPr>
          <a:xfrm>
            <a:off x="7772400" y="146304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1645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Trong phạm vi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Dry-run và TCP/UDP trên lab được cấp phép; thí nghiệm có kiểm soát trên bộ seed mẫu</a:t>
            </a:r>
            <a:endParaRPr lang="en-US" sz="1500" dirty="0"/>
          </a:p>
        </p:txBody>
      </p:sp>
      <p:sp>
        <p:nvSpPr>
          <p:cNvPr id="20" name="scope-out"/>
          <p:cNvSpPr/>
          <p:nvPr/>
        </p:nvSpPr>
        <p:spPr>
          <a:xfrm>
            <a:off x="7772400" y="379476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39776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Ngoài phạm vi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Khai thác lỗ hổng (exploit), môi trường sản xuất, thực nghiệm quy mô lớn trên thiết bị thương mại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Bề mặt tấn công của thiết bị IoT</a:t>
            </a:r>
            <a:endParaRPr lang="en-US" sz="3200" dirty="0"/>
          </a:p>
        </p:txBody>
      </p:sp>
      <p:sp>
        <p:nvSpPr>
          <p:cNvPr id="3" name="svc"/>
          <p:cNvSpPr/>
          <p:nvPr/>
        </p:nvSpPr>
        <p:spPr>
          <a:xfrm>
            <a:off x="548640" y="14173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HTTP/S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80 / 443</a:t>
            </a:r>
            <a:endParaRPr lang="en-US" sz="1400" dirty="0"/>
          </a:p>
        </p:txBody>
      </p:sp>
      <p:sp>
        <p:nvSpPr>
          <p:cNvPr id="6" name="svc"/>
          <p:cNvSpPr/>
          <p:nvPr/>
        </p:nvSpPr>
        <p:spPr>
          <a:xfrm>
            <a:off x="3364992" y="14173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536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UPnP/SSDP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UDP 1900</a:t>
            </a:r>
            <a:endParaRPr lang="en-US" sz="1400" dirty="0"/>
          </a:p>
        </p:txBody>
      </p:sp>
      <p:sp>
        <p:nvSpPr>
          <p:cNvPr id="9" name="svc"/>
          <p:cNvSpPr/>
          <p:nvPr/>
        </p:nvSpPr>
        <p:spPr>
          <a:xfrm>
            <a:off x="6181344" y="14173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536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DNS / DHCP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UDP 53 / 67</a:t>
            </a:r>
            <a:endParaRPr lang="en-US" sz="1400" dirty="0"/>
          </a:p>
        </p:txBody>
      </p:sp>
      <p:sp>
        <p:nvSpPr>
          <p:cNvPr id="12" name="svc"/>
          <p:cNvSpPr/>
          <p:nvPr/>
        </p:nvSpPr>
        <p:spPr>
          <a:xfrm>
            <a:off x="8997696" y="14173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536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RTSP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554 (camera)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Mỗi cổng mở là một điểm tiếp nhận dữ liệu từ bên ngoài. Firmware thường thiếu ASLR, stack canary, kiểm tra biên.</a:t>
            </a:r>
            <a:endParaRPr lang="en-US" sz="1600" dirty="0"/>
          </a:p>
        </p:txBody>
      </p:sp>
      <p:sp>
        <p:nvSpPr>
          <p:cNvPr id="16" name="badge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83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Tràn bộ đệm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Trường dài hơn bộ đệm cấp phát, ghi đè vùng nhớ kế cận</a:t>
            </a:r>
            <a:endParaRPr lang="en-US" sz="1500" dirty="0"/>
          </a:p>
        </p:txBody>
      </p:sp>
      <p:sp>
        <p:nvSpPr>
          <p:cNvPr id="19" name="badge"/>
          <p:cNvSpPr/>
          <p:nvPr/>
        </p:nvSpPr>
        <p:spPr>
          <a:xfrm>
            <a:off x="6172200" y="34747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383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Cạn kiệt tài nguyên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Yêu cầu cấp phát lớn bất thường, hết RAM / bảng kết nối</a:t>
            </a:r>
            <a:endParaRPr lang="en-US" sz="1500" dirty="0"/>
          </a:p>
        </p:txBody>
      </p:sp>
      <p:sp>
        <p:nvSpPr>
          <p:cNvPr id="22" name="badge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800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Lỗi parsing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Trường độ dài không khớp dữ liệu → out-of-bounds read</a:t>
            </a:r>
            <a:endParaRPr lang="en-US" sz="1500" dirty="0"/>
          </a:p>
        </p:txBody>
      </p:sp>
      <p:sp>
        <p:nvSpPr>
          <p:cNvPr id="25" name="badge"/>
          <p:cNvSpPr/>
          <p:nvPr/>
        </p:nvSpPr>
        <p:spPr>
          <a:xfrm>
            <a:off x="6172200" y="48920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800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Rò rỉ bộ nhớ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Cấp phát không giải phóng, bộ nhớ tăng dần đến khi sập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Phân loại fuzzing và vị trí của SeedFuz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Tiêu chí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Lựa chọn 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Lựa chọn B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SeedFuz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Sinh đầu vào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Mutation-based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Generation-based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Mutation-based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Hiểu biết mục tiêu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Black-box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Grey / White-box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Black-box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Mô hình trạng thái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Stateless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Stateful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State-aware (suy luận)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Chi phí triển khai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Thấp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Cao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Thấp – trung bình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Phụ thuộc đặc tả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Không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Có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Không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osition"/>
          <p:cNvSpPr/>
          <p:nvPr/>
        </p:nvSpPr>
        <p:spPr>
          <a:xfrm>
            <a:off x="8229600" y="1463040"/>
            <a:ext cx="338328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6916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Định vị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Đột biến từ seed PCAP thật, chỉ quan sát phản ứng bên ngoài, dùng đồ thị trạng thái suy luận để chọn seed theo thứ tự hợp lý.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Fuzzing: cung cấp lượng lớn đầu vào không hợp lệ / bất ngờ và quan sát treo, crash, rò rỉ — mạnh nhất với lỗi xử lý đầu vào, đúng loại lỗi phổ biến trên firmware IoT.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Cấu trúc gói tin và định dạng PCAP</a:t>
            </a:r>
            <a:endParaRPr lang="en-US" sz="3200" dirty="0"/>
          </a:p>
        </p:txBody>
      </p:sp>
      <p:pic>
        <p:nvPicPr>
          <p:cNvPr id="3" name="packet-diagram" descr="C:\Users\Kira.Pham\AppData\Local\Temp\claude\D--kira-SeedFuz\418f2f3a-c057-4374-8a59-f8c5dbdf4547\scratchpad\img\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8009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Đóng gói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Ethernet → IP → TCP/UDP → payload. SeedFuz đột biến payload tầng ứng dụng, nơi firmware tự diễn giải dữ liệu.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97680" y="5349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IPv4 / IPv6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EtherType offset 12 (VLAN +4); IHL×4; duyệt header mở rộng IPv6.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53492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PCAP &amp; PCAPNG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Global header 24 byte + record 16 byte; PCAPNG dạng khối SHB / IDB / EPB / SPB.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Suy luận đồ thị trạng thái từ lưu lượng</a:t>
            </a:r>
            <a:endParaRPr lang="en-US" sz="3200" dirty="0"/>
          </a:p>
        </p:txBody>
      </p:sp>
      <p:sp>
        <p:nvSpPr>
          <p:cNvPr id="3" name="img-frame"/>
          <p:cNvSpPr/>
          <p:nvPr/>
        </p:nvSpPr>
        <p:spPr>
          <a:xfrm>
            <a:off x="548640" y="1371600"/>
            <a:ext cx="5895305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tcp-state" descr="C:\Users\Kira.Pham\AppData\Local\Temp\claude\D--kira-SeedFuz\418f2f3a-c057-4374-8a59-f8c5dbdf4547\scratchpad\img\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620985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09705" y="1417320"/>
            <a:ext cx="4803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Không cần đặc tả giao thức: ánh xạ mỗi gói theo cờ TCP / giao thức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09705" y="2148840"/>
          <a:ext cx="4803175" cy="914400"/>
        </p:xfrm>
        <a:graphic>
          <a:graphicData uri="http://schemas.openxmlformats.org/drawingml/2006/table">
            <a:tbl>
              <a:tblPr/>
              <a:tblGrid>
                <a:gridCol w="2401588"/>
                <a:gridCol w="24015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Dấu hiệu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Trạng thái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closing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SYN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syn-sent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SYN + ACK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syn-ack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có payload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application-data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chỉ ACK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established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UDP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datagram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09705" y="5440680"/>
            <a:ext cx="4803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Chuỗi trạng thái theo thời gian → chọn seed theo thứ tự thực tế thay vì ngẫu nhiên.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 phép đột biến xoay vòng</a:t>
            </a:r>
            <a:endParaRPr lang="en-US" sz="3200" dirty="0"/>
          </a:p>
        </p:txBody>
      </p:sp>
      <p:sp>
        <p:nvSpPr>
          <p:cNvPr id="3" name="op-card"/>
          <p:cNvSpPr/>
          <p:nvPr/>
        </p:nvSpPr>
        <p:spPr>
          <a:xfrm>
            <a:off x="548640" y="141732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 flipping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Phạm vi: 1 bit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XOR một bit ngẫu nhiên. Thay đổi nhỏ nhất, dễ khoanh vùng nguyên nhân.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Bộc lộ: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Cờ điều khiển, bit dấu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 phí: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Rất thấp</a:t>
            </a:r>
            <a:endParaRPr lang="en-US" sz="1400" dirty="0"/>
          </a:p>
        </p:txBody>
      </p:sp>
      <p:sp>
        <p:nvSpPr>
          <p:cNvPr id="10" name="op-card"/>
          <p:cNvSpPr/>
          <p:nvPr/>
        </p:nvSpPr>
        <p:spPr>
          <a:xfrm>
            <a:off x="4297680" y="141732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 mutation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Phạm vi: 1 byte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Thay byte bằng giá trị biên {00, 01, 7F, 80, FE, FF}.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Bộc lộ: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Số có dấu, kiểm tra biên mảng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 phí: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Thấp</a:t>
            </a:r>
            <a:endParaRPr lang="en-US" sz="1400" dirty="0"/>
          </a:p>
        </p:txBody>
      </p:sp>
      <p:sp>
        <p:nvSpPr>
          <p:cNvPr id="17" name="op-card"/>
          <p:cNvSpPr/>
          <p:nvPr/>
        </p:nvSpPr>
        <p:spPr>
          <a:xfrm>
            <a:off x="8046720" y="1417320"/>
            <a:ext cx="3474720" cy="4663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Smart-field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Phạm vi: Cả trường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474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Ghi đè trường độ dài / định danh bằng giá trị cực đại (toàn bit 1).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Bộc lộ: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Tràn bộ đệm, parsing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 phí: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Trung bình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Chấm điểm trường nhạy cảm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xplain"/>
          <p:cNvSpPr/>
          <p:nvPr/>
        </p:nvSpPr>
        <p:spPr>
          <a:xfrm>
            <a:off x="7772400" y="1371600"/>
            <a:ext cx="3840480" cy="4480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64592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Mỗi offset trong payload được cộng dồn điểm khi thỏa nhiều dấu hiệu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Offset điểm cao được ưu tiên cho phép smart-field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Không cần biết trước giao thức — áp dụng chung cho HTTP, SSDP, DNS, RTSP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Giữ 2/3 lượt ngẫu nhiên để bù sai số heuristic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Khảo sát công cụ fuzzing mạng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737360"/>
                <a:gridCol w="192024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Công cụ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Hướng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Hộp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Trạng thái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Phù hợp IoT đóng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Boofuzz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Generation / Mutation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Black-box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Stateful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Trung bình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AFLNet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Mutation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Grey-box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Stateful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Thấp (cần biên dịch lại)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Peach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Generation / Mutation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Black-box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Stateful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Trung bình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SeedFuz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Mutation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Black-box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State-aware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Cao (không cần đặc tả)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Hạng mục OWASP IoT Top 10 liên quan trực tiếp</a:t>
            </a:r>
            <a:endParaRPr lang="en-US" sz="1600" dirty="0"/>
          </a:p>
        </p:txBody>
      </p:sp>
      <p:sp>
        <p:nvSpPr>
          <p:cNvPr id="5" name="badge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Dịch vụ mạng không an toàn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3364992" y="5074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64992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096512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Giao diện hệ sinh thái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6181344" y="5074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81344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I5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12864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Thành phần lỗi thời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8997696" y="5074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97696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I8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729216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Thiếu khả năng chống chịu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Nghiệp vụ một chiến dịch fuzzing IoT</a:t>
            </a:r>
            <a:endParaRPr lang="en-US" sz="3200" dirty="0"/>
          </a:p>
        </p:txBody>
      </p:sp>
      <p:pic>
        <p:nvPicPr>
          <p:cNvPr id="3" name="ipo" descr="C:\Users\Kira.Pham\AppData\Local\Temp\claude\D--kira-SeedFuz\418f2f3a-c057-4374-8a59-f8c5dbdf4547\scratchpad\img\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156910" cy="4846320"/>
          </a:xfrm>
          <a:prstGeom prst="rect">
            <a:avLst/>
          </a:prstGeom>
        </p:spPr>
      </p:pic>
      <p:sp>
        <p:nvSpPr>
          <p:cNvPr id="4" name="badge"/>
          <p:cNvSpPr/>
          <p:nvPr/>
        </p:nvSpPr>
        <p:spPr>
          <a:xfrm>
            <a:off x="525419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25419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1430" y="1463040"/>
            <a:ext cx="5581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Trinh sát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Nmap liệt kê cổng mở, ưu tiên dịch vụ không cần đăng nhập</a:t>
            </a:r>
            <a:endParaRPr lang="en-US" sz="1500" dirty="0"/>
          </a:p>
        </p:txBody>
      </p:sp>
      <p:sp>
        <p:nvSpPr>
          <p:cNvPr id="7" name="badge"/>
          <p:cNvSpPr/>
          <p:nvPr/>
        </p:nvSpPr>
        <p:spPr>
          <a:xfrm>
            <a:off x="525419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419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31430" y="2651760"/>
            <a:ext cx="5581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Thu seed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Wireshark bắt lưu lượng chuẩn, lọc đúng luồng, loại payload trùng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525419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5419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031430" y="3840480"/>
            <a:ext cx="5581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Sinh &amp; gửi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Đột biến theo trạng thái, giới hạn số case, độ trễ, timeout</a:t>
            </a:r>
            <a:endParaRPr lang="en-US" sz="1500" dirty="0"/>
          </a:p>
        </p:txBody>
      </p:sp>
      <p:sp>
        <p:nvSpPr>
          <p:cNvPr id="13" name="badge"/>
          <p:cNvSpPr/>
          <p:nvPr/>
        </p:nvSpPr>
        <p:spPr>
          <a:xfrm>
            <a:off x="5254190" y="5074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419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031430" y="5029200"/>
            <a:ext cx="5581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Giám sát &amp; khôi phục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Ping / TCP / HTTP; ghi crash kèm hex payload; recovery tự động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Yêu cầu chức năng và phi chức năng</a:t>
            </a:r>
            <a:endParaRPr lang="en-US" sz="3200" dirty="0"/>
          </a:p>
        </p:txBody>
      </p:sp>
      <p:sp>
        <p:nvSpPr>
          <p:cNvPr id="3" name="rf"/>
          <p:cNvSpPr/>
          <p:nvPr/>
        </p:nvSpPr>
        <p:spPr>
          <a:xfrm>
            <a:off x="548640" y="14173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RF-01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Phân tích PCAP</a:t>
            </a:r>
            <a:endParaRPr lang="en-US" sz="1500" dirty="0"/>
          </a:p>
        </p:txBody>
      </p:sp>
      <p:sp>
        <p:nvSpPr>
          <p:cNvPr id="5" name="rf"/>
          <p:cNvSpPr/>
          <p:nvPr/>
        </p:nvSpPr>
        <p:spPr>
          <a:xfrm>
            <a:off x="3840480" y="14173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23360" y="1417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RF-02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Chấm điểm trường</a:t>
            </a:r>
            <a:endParaRPr lang="en-US" sz="1500" dirty="0"/>
          </a:p>
        </p:txBody>
      </p:sp>
      <p:sp>
        <p:nvSpPr>
          <p:cNvPr id="7" name="rf"/>
          <p:cNvSpPr/>
          <p:nvPr/>
        </p:nvSpPr>
        <p:spPr>
          <a:xfrm>
            <a:off x="548640" y="23317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RF-03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Suy luận trạng thái</a:t>
            </a:r>
            <a:endParaRPr lang="en-US" sz="1500" dirty="0"/>
          </a:p>
        </p:txBody>
      </p:sp>
      <p:sp>
        <p:nvSpPr>
          <p:cNvPr id="9" name="rf"/>
          <p:cNvSpPr/>
          <p:nvPr/>
        </p:nvSpPr>
        <p:spPr>
          <a:xfrm>
            <a:off x="3840480" y="23317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RF-04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Đột biến dữ liệu</a:t>
            </a:r>
            <a:endParaRPr lang="en-US" sz="1500" dirty="0"/>
          </a:p>
        </p:txBody>
      </p:sp>
      <p:sp>
        <p:nvSpPr>
          <p:cNvPr id="11" name="rf"/>
          <p:cNvSpPr/>
          <p:nvPr/>
        </p:nvSpPr>
        <p:spPr>
          <a:xfrm>
            <a:off x="548640" y="32461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46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RF-05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Chạy chiến dịch</a:t>
            </a:r>
            <a:endParaRPr lang="en-US" sz="1500" dirty="0"/>
          </a:p>
        </p:txBody>
      </p:sp>
      <p:sp>
        <p:nvSpPr>
          <p:cNvPr id="13" name="rf"/>
          <p:cNvSpPr/>
          <p:nvPr/>
        </p:nvSpPr>
        <p:spPr>
          <a:xfrm>
            <a:off x="3840480" y="32461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3246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RF-06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Giám sát thiết bị</a:t>
            </a:r>
            <a:endParaRPr lang="en-US" sz="1500" dirty="0"/>
          </a:p>
        </p:txBody>
      </p:sp>
      <p:sp>
        <p:nvSpPr>
          <p:cNvPr id="15" name="rf"/>
          <p:cNvSpPr/>
          <p:nvPr/>
        </p:nvSpPr>
        <p:spPr>
          <a:xfrm>
            <a:off x="548640" y="41605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60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RF-07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Khôi phục</a:t>
            </a:r>
            <a:endParaRPr lang="en-US" sz="1500" dirty="0"/>
          </a:p>
        </p:txBody>
      </p:sp>
      <p:sp>
        <p:nvSpPr>
          <p:cNvPr id="17" name="rf"/>
          <p:cNvSpPr/>
          <p:nvPr/>
        </p:nvSpPr>
        <p:spPr>
          <a:xfrm>
            <a:off x="3840480" y="41605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4160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RF-08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Lưu trữ &amp; báo cáo</a:t>
            </a:r>
            <a:endParaRPr lang="en-US" sz="1500" dirty="0"/>
          </a:p>
        </p:txBody>
      </p:sp>
      <p:sp>
        <p:nvSpPr>
          <p:cNvPr id="19" name="rf"/>
          <p:cNvSpPr/>
          <p:nvPr/>
        </p:nvSpPr>
        <p:spPr>
          <a:xfrm>
            <a:off x="548640" y="50749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74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RF-09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Dashboard &amp; API</a:t>
            </a:r>
            <a:endParaRPr lang="en-US" sz="1500" dirty="0"/>
          </a:p>
        </p:txBody>
      </p:sp>
      <p:sp>
        <p:nvSpPr>
          <p:cNvPr id="21" name="rf"/>
          <p:cNvSpPr/>
          <p:nvPr/>
        </p:nvSpPr>
        <p:spPr>
          <a:xfrm>
            <a:off x="3840480" y="50749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5074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RF-10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Cảnh báo an ninh</a:t>
            </a:r>
            <a:endParaRPr lang="en-US" sz="1500" dirty="0"/>
          </a:p>
        </p:txBody>
      </p:sp>
      <p:sp>
        <p:nvSpPr>
          <p:cNvPr id="23" name="nfr"/>
          <p:cNvSpPr/>
          <p:nvPr/>
        </p:nvSpPr>
        <p:spPr>
          <a:xfrm>
            <a:off x="7315200" y="1417320"/>
            <a:ext cx="4297680" cy="438912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Phi chức năng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21031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 toàn: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Chặn mục tiêu public; mạng bắt buộc authorized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Tái lập: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Cùng random seed → cùng chuỗi đột biến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Hiệu năng: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Đo packets/giây thời gian thực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Chất lượng: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pytest, PEP 8, ruff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Khả chuyển: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Linux, Python ≥ 3.10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Kiến trúc phân tầng</a:t>
            </a:r>
            <a:endParaRPr lang="en-US" sz="3200" dirty="0"/>
          </a:p>
        </p:txBody>
      </p:sp>
      <p:pic>
        <p:nvPicPr>
          <p:cNvPr id="3" name="architecture" descr="C:\Users\Kira.Pham\AppData\Local\Temp\claude\D--kira-SeedFuz\418f2f3a-c057-4374-8a59-f8c5dbdf4547\scratchpad\img\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138160" cy="47994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052560" y="13716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Trình bày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 Dashboard · CLI seedfuz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052560" y="2560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Dịch vụ /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FastAPI + RunnerRegistry chạy nền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37490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Lõi fuzzing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campaign, mutation, transport, monitor, pcap, state_machine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49377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Dữ liệu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SQLite · báo cáo CSV /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Module lõi và quy mô mã nguồn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2179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223760" y="14173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pcap.py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Đọc PCAP/PCAPNG, bóc tách payload, chấm điểm trường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22376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state_machine.py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Đồ thị trạng thái, phạm vi token phiên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3300984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mutation.py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Bit / byte / smart-field, tái lập theo random seed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4242816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campaign.py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Điều phối, đo chỉ số, crash, khôi phục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518464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transport · monitor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Dry-run/TCP/UDP; ping/TCP/HTTP, xu hướng bộ nhớ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Cơ sở dữ liệu và REST API</a:t>
            </a:r>
            <a:endParaRPr lang="en-US" sz="3200" dirty="0"/>
          </a:p>
        </p:txBody>
      </p:sp>
      <p:sp>
        <p:nvSpPr>
          <p:cNvPr id="3" name="db-table"/>
          <p:cNvSpPr/>
          <p:nvPr/>
        </p:nvSpPr>
        <p:spPr>
          <a:xfrm>
            <a:off x="548640" y="141732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campaigns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status, config_json, metrics_json, mốc thời gian</a:t>
            </a:r>
            <a:endParaRPr lang="en-US" sz="1400" dirty="0"/>
          </a:p>
        </p:txBody>
      </p:sp>
      <p:sp>
        <p:nvSpPr>
          <p:cNvPr id="5" name="db-table"/>
          <p:cNvSpPr/>
          <p:nvPr/>
        </p:nvSpPr>
        <p:spPr>
          <a:xfrm>
            <a:off x="548640" y="256032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test_cases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operator, offsets_json, payload_hex, outcome</a:t>
            </a:r>
            <a:endParaRPr lang="en-US" sz="1400" dirty="0"/>
          </a:p>
        </p:txBody>
      </p:sp>
      <p:sp>
        <p:nvSpPr>
          <p:cNvPr id="7" name="db-table"/>
          <p:cNvSpPr/>
          <p:nvPr/>
        </p:nvSpPr>
        <p:spPr>
          <a:xfrm>
            <a:off x="548640" y="370332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health_samples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alive, latency_ms, memory_percent</a:t>
            </a:r>
            <a:endParaRPr lang="en-US" sz="1400" dirty="0"/>
          </a:p>
        </p:txBody>
      </p:sp>
      <p:sp>
        <p:nvSpPr>
          <p:cNvPr id="9" name="db-table"/>
          <p:cNvSpPr/>
          <p:nvPr/>
        </p:nvSpPr>
        <p:spPr>
          <a:xfrm>
            <a:off x="548640" y="484632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events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target-crash, security-alert, info/warning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17320"/>
          <a:ext cx="57607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834640"/>
                <a:gridCol w="2240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Chức năng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/api/pcaps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Upload &amp; phân tích PCAP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/api/campaigns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Tạo và chạy chiến dịch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/api/campaigns/{id}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Trạng thái, chỉ số, health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/api/campaigns/{id}/events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Sự kiện mới theo con trỏ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/api/campaigns/{id}/stop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Dừng chiến dịch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/api/security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Tổng hợp cảnh báo an ninh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/api/campaigns/{id}/report.csv|pdf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Xuất báo cáo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Cơ chế an toàn và giám sát black-box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Mặc định dry-run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protocol = dry-run; không gửi gói ra mạng cho đến khi cấu hình rõ ràng</a:t>
            </a:r>
            <a:endParaRPr lang="en-US" sz="1500" dirty="0"/>
          </a:p>
        </p:txBody>
      </p:sp>
      <p:sp>
        <p:nvSpPr>
          <p:cNvPr id="6" name="badge"/>
          <p:cNvSpPr/>
          <p:nvPr/>
        </p:nvSpPr>
        <p:spPr>
          <a:xfrm>
            <a:off x="548640" y="2441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authorized =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Bắt buộc khi chạy TCP/UDP; chặn mục tiêu địa chỉ public</a:t>
            </a:r>
            <a:endParaRPr lang="en-US" sz="1500" dirty="0"/>
          </a:p>
        </p:txBody>
      </p:sp>
      <p:sp>
        <p:nvSpPr>
          <p:cNvPr id="9" name="badge"/>
          <p:cNvSpPr/>
          <p:nvPr/>
        </p:nvSpPr>
        <p:spPr>
          <a:xfrm>
            <a:off x="548640" y="337413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8269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crash_threshold =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Hai lần giám sát hỏng liên tiếp mới ghi crash — giảm báo động giả</a:t>
            </a:r>
            <a:endParaRPr lang="en-US" sz="1500" dirty="0"/>
          </a:p>
        </p:txBody>
      </p:sp>
      <p:sp>
        <p:nvSpPr>
          <p:cNvPr id="12" name="badge"/>
          <p:cNvSpPr/>
          <p:nvPr/>
        </p:nvSpPr>
        <p:spPr>
          <a:xfrm>
            <a:off x="548640" y="430682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1538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recovery_command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Tự chạy lệnh khôi phục (vd. ổ cắm thông minh) và chờ thiết bị sống lại</a:t>
            </a:r>
            <a:endParaRPr lang="en-US" sz="1500" dirty="0"/>
          </a:p>
        </p:txBody>
      </p:sp>
      <p:sp>
        <p:nvSpPr>
          <p:cNvPr id="15" name="badge"/>
          <p:cNvSpPr/>
          <p:nvPr/>
        </p:nvSpPr>
        <p:spPr>
          <a:xfrm>
            <a:off x="548640" y="523951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4807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Cảnh báo an ninh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Sự kiện security-alert tổng hợp qua /api/security và Dashboard</a:t>
            </a:r>
            <a:endParaRPr lang="en-US" sz="1500" dirty="0"/>
          </a:p>
        </p:txBody>
      </p:sp>
      <p:sp>
        <p:nvSpPr>
          <p:cNvPr id="18" name="monitor"/>
          <p:cNvSpPr/>
          <p:nvPr/>
        </p:nvSpPr>
        <p:spPr>
          <a:xfrm>
            <a:off x="7863840" y="1417320"/>
            <a:ext cx="3749040" cy="45720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Giám sát 3 tín hiệu mạng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24028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Ping — thiết bị còn sống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TCP connect — dịch vụ còn mở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HTTP — phát hiện mã 5xx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memory_probe_url — hồi quy tuyến tính ước lượng rò rỉ (khi có endpoint)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Web Dashboard</a:t>
            </a:r>
            <a:endParaRPr lang="en-US" sz="3200" dirty="0"/>
          </a:p>
        </p:txBody>
      </p:sp>
      <p:sp>
        <p:nvSpPr>
          <p:cNvPr id="3" name="img-frame"/>
          <p:cNvSpPr/>
          <p:nvPr/>
        </p:nvSpPr>
        <p:spPr>
          <a:xfrm>
            <a:off x="548640" y="1325880"/>
            <a:ext cx="5915739" cy="507492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dashboard" descr="C:\Users\Kira.Pham\AppData\Local\Temp\claude\D--kira-SeedFuz\418f2f3a-c057-4374-8a59-f8c5dbdf4547\scratchpad\img\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732859" cy="4892040"/>
          </a:xfrm>
          <a:prstGeom prst="rect">
            <a:avLst/>
          </a:prstGeom>
        </p:spPr>
      </p:pic>
      <p:sp>
        <p:nvSpPr>
          <p:cNvPr id="5" name="badge"/>
          <p:cNvSpPr/>
          <p:nvPr/>
        </p:nvSpPr>
        <p:spPr>
          <a:xfrm>
            <a:off x="6921579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21579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53099" y="1417320"/>
            <a:ext cx="395978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Nạp hạt giống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Kéo thả PCAP (tối đa 100 MiB), xem số gói và seed</a:t>
            </a:r>
            <a:endParaRPr lang="en-US" sz="1500" dirty="0"/>
          </a:p>
        </p:txBody>
      </p:sp>
      <p:sp>
        <p:nvSpPr>
          <p:cNvPr id="8" name="badge"/>
          <p:cNvSpPr/>
          <p:nvPr/>
        </p:nvSpPr>
        <p:spPr>
          <a:xfrm>
            <a:off x="6921579" y="2651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21579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53099" y="2606040"/>
            <a:ext cx="395978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Cấu hình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Giao thức, số case, random seed, độ trễ, bật smart / state-aware</a:t>
            </a:r>
            <a:endParaRPr lang="en-US" sz="1500" dirty="0"/>
          </a:p>
        </p:txBody>
      </p:sp>
      <p:sp>
        <p:nvSpPr>
          <p:cNvPr id="11" name="badge"/>
          <p:cNvSpPr/>
          <p:nvPr/>
        </p:nvSpPr>
        <p:spPr>
          <a:xfrm>
            <a:off x="6921579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21579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653099" y="3794760"/>
            <a:ext cx="395978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Campaign monitor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Đã gửi, tốc độ, crash, bộ nhớ, tiến trình, nhật ký sự kiện</a:t>
            </a:r>
            <a:endParaRPr lang="en-US" sz="1500" dirty="0"/>
          </a:p>
        </p:txBody>
      </p:sp>
      <p:sp>
        <p:nvSpPr>
          <p:cNvPr id="14" name="badge"/>
          <p:cNvSpPr/>
          <p:nvPr/>
        </p:nvSpPr>
        <p:spPr>
          <a:xfrm>
            <a:off x="6921579" y="5029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21579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653099" y="4983480"/>
            <a:ext cx="395978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Cảnh báo &amp; lịch sử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Bảng cảnh báo an ninh; lọc lịch sử chiến dịch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Kiểm thử tự động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PASS trên 8 module kiểm thử (pytest)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độ phủ toàn gói (1.123 câu lệnh)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Mã nguồn tuân thủ PEP 8, qua kiểm tra ruff.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89120" y="132588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Thí nghiệm A/B: số test case để phủ đủ 20 trường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"/>
          <p:cNvSpPr/>
          <p:nvPr/>
        </p:nvSpPr>
        <p:spPr>
          <a:xfrm>
            <a:off x="8229600" y="1325880"/>
            <a:ext cx="3383280" cy="484632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4,5×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ít test case hơn để chạm mọi trường trọng yếu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4290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≈ 268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trung bình nhánh A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≈ 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trung bình nhánh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Thí nghiệm A/B: tỷ lệ chạm và thông lượng</a:t>
            </a:r>
            <a:endParaRPr lang="en-US" sz="3200" dirty="0"/>
          </a:p>
        </p:txBody>
      </p:sp>
      <p:sp>
        <p:nvSpPr>
          <p:cNvPr id="3" name="hit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57%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 case chạm trường nhạy cảm (B), so với ≈ 35% ở nhánh A</a:t>
            </a:r>
            <a:endParaRPr lang="en-US" sz="1500" dirty="0"/>
          </a:p>
        </p:txBody>
      </p:sp>
      <p:sp>
        <p:nvSpPr>
          <p:cNvPr id="6" name="ops"/>
          <p:cNvSpPr/>
          <p:nvPr/>
        </p:nvSpPr>
        <p:spPr>
          <a:xfrm>
            <a:off x="548640" y="384048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Phân bố toán tử (1.000 case)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A: 334 bit-flip · 666 byte · 0 smart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B: 334 bit-flip · 333 byte · 333 smart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89120" y="1325880"/>
          <a:ext cx="7223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389120" y="5486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Thông lượng tương đương (~150 tc/s) → lợi ích độ phủ không đánh đổi bằng tốc độ.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Hạn chế và hướng phát triển</a:t>
            </a:r>
            <a:endParaRPr lang="en-US" sz="3200" dirty="0"/>
          </a:p>
        </p:txBody>
      </p:sp>
      <p:sp>
        <p:nvSpPr>
          <p:cNvPr id="3" name="limits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Hạn chế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Chưa thực nghiệm trên router/camera thật — chưa đo crash, rò rỉ bộ nhớ thật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Đồ thị trạng thái tổng quát; giao thức đăng nhập nhiều bước / TLS cần adapter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Chấm điểm heuristic, cần hiệu chỉnh với giao thức nhị phân phức tạp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Dashboard chưa có xác thực người dùng</a:t>
            </a:r>
            <a:endParaRPr lang="en-US" sz="1700" dirty="0"/>
          </a:p>
        </p:txBody>
      </p:sp>
      <p:sp>
        <p:nvSpPr>
          <p:cNvPr id="6" name="future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Hướng phát triển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Thực nghiệm A/B phần cứng: lab cô lập 192.168.50.0/24, ESP32 / Raspberry Pi firmware lỗ hổng chủ đích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Adapter HTTP / UPnP / RTSP / DNS, tích hợp sâu Boofuzz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Chọn hạt giống học từ phản hồi (greybox) hoặc mô hình thống kê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Xác thực, phân quyền, đóng gói Docker, nhật ký kiểm toán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Kết luận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Heuristic chấm điểm trường đơn giản có thể thay một phần tín hiệu độ phủ mã trong fuzzing black-box cho IoT đóng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4,5×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77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ít test case để phủ đủ trường nhạy cảm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5577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 case chạm trường nhạy cảm (vs 35%)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5577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 PASS · độ phủ 73%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dFuz">
  <a:themeElements>
    <a:clrScheme name="SeedFuz">
      <a:dk1>
        <a:srgbClr val="0F1B2D"/>
      </a:dk1>
      <a:lt1>
        <a:srgbClr val="FFFFFF"/>
      </a:lt1>
      <a:dk2>
        <a:srgbClr val="3B4A5E"/>
      </a:dk2>
      <a:lt2>
        <a:srgbClr val="EEF3F8"/>
      </a:lt2>
      <a:accent1>
        <a:srgbClr val="1F9D63"/>
      </a:accent1>
      <a:accent2>
        <a:srgbClr val="E39B2D"/>
      </a:accent2>
      <a:accent3>
        <a:srgbClr val="2F6FA8"/>
      </a:accent3>
      <a:accent4>
        <a:srgbClr val="D9483B"/>
      </a:accent4>
      <a:accent5>
        <a:srgbClr val="8FA3B8"/>
      </a:accent5>
      <a:accent6>
        <a:srgbClr val="0E6B52"/>
      </a:accent6>
      <a:hlink>
        <a:srgbClr val="2F6FA8"/>
      </a:hlink>
      <a:folHlink>
        <a:srgbClr val="6B4FA0"/>
      </a:folHlink>
    </a:clrScheme>
    <a:fontScheme name="SeedFu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SeedFuz - Mutational Fuzzing với Chọn Hạt giống Thông minh</dc:title>
  <dc:subject>PptxGenJS Presentation</dc:subject>
  <dc:creator>Nhóm SeedFuz</dc:creator>
  <cp:lastModifiedBy>Nhóm SeedFuz</cp:lastModifiedBy>
  <cp:revision>1</cp:revision>
  <dcterms:created xsi:type="dcterms:W3CDTF">2026-10-22T02:33:37Z</dcterms:created>
  <dcterms:modified xsi:type="dcterms:W3CDTF">2026-10-22T02:33:37Z</dcterms:modified>
</cp:coreProperties>
</file>